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909090"/>
                </a:solidFill>
              </a:rPr>
              <a:t>DeepEP V2 on AWS EFA · 2026-08 · 1/13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DeepEP V2 on AWS EFA</a:t>
            </a:r>
          </a:p>
          <a:p>
            <a:pPr>
              <a:defRPr sz="1800">
                <a:solidFill>
                  <a:srgbClr val="2E75B6"/>
                </a:solidFill>
              </a:defRPr>
            </a:pPr>
            <a:r>
              <a:t>原理 · 安装 · 性能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sz="2000">
                <a:solidFill>
                  <a:srgbClr val="202020"/>
                </a:solidFill>
              </a:rPr>
              <a:t>• MoE 训推的 all-to-all（dispatch + combine）</a:t>
            </a:r>
          </a:p>
          <a:p>
            <a:pPr>
              <a:spcAft>
                <a:spcPts val="400"/>
              </a:spcAft>
            </a:pPr>
            <a:r>
              <a:rPr b="0" sz="2000">
                <a:solidFill>
                  <a:srgbClr val="202020"/>
                </a:solidFill>
              </a:rPr>
              <a:t>• 用</a:t>
            </a:r>
            <a:r>
              <a:rPr b="1" sz="2000">
                <a:solidFill>
                  <a:srgbClr val="C0504D"/>
                </a:solidFill>
              </a:rPr>
              <a:t>发布包</a:t>
            </a:r>
            <a:r>
              <a:rPr b="0" sz="2000">
                <a:solidFill>
                  <a:srgbClr val="202020"/>
                </a:solidFill>
              </a:rPr>
              <a:t>跑，不编 NCCL、不编 aws-ofi-nccl、不换内核模块</a:t>
            </a:r>
          </a:p>
          <a:p>
            <a:pPr>
              <a:spcAft>
                <a:spcPts val="400"/>
              </a:spcAft>
            </a:pPr>
            <a:r>
              <a:rPr b="0" sz="2000">
                <a:solidFill>
                  <a:srgbClr val="202020"/>
                </a:solidFill>
              </a:rPr>
              <a:t>• p5en × 2，decode dispatch </a:t>
            </a:r>
            <a:r>
              <a:rPr b="1" sz="2000">
                <a:solidFill>
                  <a:srgbClr val="C0504D"/>
                </a:solidFill>
              </a:rPr>
              <a:t>106 µs</a:t>
            </a:r>
            <a:r>
              <a:rPr b="0" sz="2000">
                <a:solidFill>
                  <a:srgbClr val="202020"/>
                </a:solidFill>
              </a:rPr>
              <a:t>（AWS baseline 365 µs → </a:t>
            </a:r>
            <a:r>
              <a:rPr b="1" sz="2000">
                <a:solidFill>
                  <a:srgbClr val="C0504D"/>
                </a:solidFill>
              </a:rPr>
              <a:t>3.4 ×</a:t>
            </a:r>
            <a:r>
              <a:rPr b="0" sz="2000">
                <a:solidFill>
                  <a:srgbClr val="202020"/>
                </a:solidFill>
              </a:rPr>
              <a:t>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909090"/>
                </a:solidFill>
              </a:rPr>
              <a:t>2026-08 · p5en.48xlarge × 2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909090"/>
                </a:solidFill>
              </a:rPr>
              <a:t>DeepEP V2 on AWS EFA · 2026-08 · 2/13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1 · DeepEP V2 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sz="1700">
                <a:solidFill>
                  <a:srgbClr val="202020"/>
                </a:solidFill>
              </a:rPr>
              <a:t>• </a:t>
            </a:r>
            <a:r>
              <a:rPr b="1" sz="1700">
                <a:solidFill>
                  <a:srgbClr val="C0504D"/>
                </a:solidFill>
              </a:rPr>
              <a:t>MoE 的 GPU all-to-all 内核</a:t>
            </a:r>
            <a:r>
              <a:rPr b="0" sz="1700">
                <a:solidFill>
                  <a:srgbClr val="202020"/>
                </a:solidFill>
              </a:rPr>
              <a:t>：dispatch 把 token 路由到 expert，combine 收回来</a:t>
            </a:r>
          </a:p>
          <a:p>
            <a:pPr>
              <a:spcAft>
                <a:spcPts val="400"/>
              </a:spcAft>
            </a:pPr>
            <a:r>
              <a:rPr b="0" sz="1700">
                <a:solidFill>
                  <a:srgbClr val="202020"/>
                </a:solidFill>
              </a:rPr>
              <a:t>• V1 → V2 换了内网后端：</a:t>
            </a:r>
            <a:r>
              <a:rPr b="1" sz="1700">
                <a:solidFill>
                  <a:srgbClr val="C0504D"/>
                </a:solidFill>
              </a:rPr>
              <a:t>NVSHMEM → NCCL GIN</a:t>
            </a:r>
            <a:r>
              <a:rPr b="0" sz="1700">
                <a:solidFill>
                  <a:srgbClr val="202020"/>
                </a:solidFill>
              </a:rPr>
              <a:t>（GPU-Initiated Networking）</a:t>
            </a:r>
          </a:p>
          <a:p>
            <a:pPr>
              <a:spcAft>
                <a:spcPts val="400"/>
              </a:spcAft>
            </a:pPr>
            <a:r>
              <a:rPr b="0" sz="1700">
                <a:solidFill>
                  <a:srgbClr val="202020"/>
                </a:solidFill>
              </a:rPr>
              <a:t>•     GIN 让 CUDA kernel 直接发 RDMA，不用 CPU proxy</a:t>
            </a:r>
          </a:p>
          <a:p>
            <a:pPr>
              <a:spcAft>
                <a:spcPts val="400"/>
              </a:spcAft>
            </a:pPr>
            <a:r>
              <a:rPr b="0" sz="1700">
                <a:solidFill>
                  <a:srgbClr val="202020"/>
                </a:solidFill>
              </a:rPr>
              <a:t>• V2 SM 占用从 24 降到 </a:t>
            </a:r>
            <a:r>
              <a:rPr b="1" sz="1700">
                <a:solidFill>
                  <a:srgbClr val="C0504D"/>
                </a:solidFill>
              </a:rPr>
              <a:t>4–6 SM</a:t>
            </a:r>
            <a:r>
              <a:rPr b="0" sz="1700">
                <a:solidFill>
                  <a:srgbClr val="202020"/>
                </a:solidFill>
              </a:rPr>
              <a:t>，同带宽下更省算力</a:t>
            </a:r>
          </a:p>
          <a:p>
            <a:pPr>
              <a:spcAft>
                <a:spcPts val="400"/>
              </a:spcAft>
            </a:pPr>
            <a:r>
              <a:rPr b="0" sz="1700">
                <a:solidFill>
                  <a:srgbClr val="202020"/>
                </a:solidFill>
              </a:rPr>
              <a:t>• 统一 ElasticBuffer API，SM 数解析式算出、不再 auto-tune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>
                <a:solidFill>
                  <a:srgbClr val="C0504D"/>
                </a:solidFill>
              </a:rPr>
              <a:t>为什么关心 EFA</a:t>
            </a:r>
            <a:r>
              <a:rPr b="0" sz="1600">
                <a:solidFill>
                  <a:srgbClr val="202020"/>
                </a:solidFill>
              </a:rPr>
              <a:t>：p5en / p6-b300 都是 EFA 网络，不是 IB / RoCE，需要专门的 GDA 通路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909090"/>
                </a:solidFill>
              </a:rPr>
              <a:t>DeepEP V2 on AWS EFA · 2026-08 · 3/13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2 · EFA-GDA 依赖链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C0504D"/>
                </a:solidFill>
              </a:rPr>
              <a:t>GDA = GPU Direct Async</a:t>
            </a:r>
            <a:r>
              <a:rPr b="0" sz="1400">
                <a:solidFill>
                  <a:srgbClr val="202020"/>
                </a:solidFill>
              </a:rPr>
              <a:t>：NIC WQ 映射到 GPU 显存，kernel 自己 ring doorbell，CPU 全程不介入。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8308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291840"/>
                <a:gridCol w="4846320"/>
              </a:tblGrid>
              <a:tr h="4572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层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版本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判据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DeepEP V2 unordered kernels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amazon-contributing/DeepEP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NCCL GIN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≥ </a:t>
                      </a:r>
                      <a:r>
                        <a:rPr b="1" sz="1300">
                          <a:solidFill>
                            <a:srgbClr val="C0504D"/>
                          </a:solidFill>
                        </a:rPr>
                        <a:t>2.30.4</a:t>
                      </a:r>
                      <a:r>
                        <a:rPr b="0" sz="1300">
                          <a:solidFill>
                            <a:srgbClr val="202020"/>
                          </a:solidFill>
                        </a:rPr>
                        <a:t>（用 2.31.2）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有 nccl_device.h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aws-ofi-nccl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1.21.1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nm 里有 ncclGinPlugin_v14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libfabric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2.6.0amzn1.0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16 个 fabric: efa-direct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rdma-core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64.0amzn0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20 个 comp_cntr 符号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efa 内核驱动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3.3.0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EFA_QUERY_DEVICE_CAPS_COMP_CNTR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2120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>
                <a:solidFill>
                  <a:srgbClr val="C0504D"/>
                </a:solidFill>
              </a:rPr>
              <a:t>加粗四层由 EFA installer 1.50.0 一次给齐</a:t>
            </a:r>
            <a:r>
              <a:rPr b="0" sz="1600">
                <a:solidFill>
                  <a:srgbClr val="202020"/>
                </a:solidFill>
              </a:rPr>
              <a:t> —— 这就是版本门槛的全部原因。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909090"/>
                </a:solidFill>
              </a:rPr>
              <a:t>DeepEP V2 on AWS EFA · 2026-08 · 4/13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3 · 两个必须的环境变量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202020"/>
                </a:solidFill>
              </a:rPr>
              <a:t>installer 1.50.0 装完，libnccl-net-ofi.so 注册</a:t>
            </a:r>
            <a:r>
              <a:rPr b="1" sz="1300">
                <a:solidFill>
                  <a:srgbClr val="C0504D"/>
                </a:solidFill>
              </a:rPr>
              <a:t>两个</a:t>
            </a:r>
            <a:r>
              <a:rPr b="0" sz="1300">
                <a:solidFill>
                  <a:srgbClr val="202020"/>
                </a:solidFill>
              </a:rPr>
              <a:t> GIN backend：type 2（CPU proxy）和 type 5（GDAKI）。</a:t>
            </a:r>
            <a:r>
              <a:rPr b="1" sz="1300">
                <a:solidFill>
                  <a:srgbClr val="C0504D"/>
                </a:solidFill>
              </a:rPr>
              <a:t>默认走 type 2</a:t>
            </a:r>
            <a:r>
              <a:rPr b="0" sz="1300">
                <a:solidFill>
                  <a:srgbClr val="202020"/>
                </a:solidFill>
              </a:rPr>
              <a:t>，且日志两边都会打 Loaded gin plugin Libfabric_GDAKI (v14)（这行不能作为判据）。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333333"/>
                </a:solidFill>
              </a:rPr>
              <a:t>export NCCL_GIN_TYPE=5</a:t>
            </a:r>
          </a:p>
          <a:p>
            <a:pPr algn="l"/>
            <a:r>
              <a:rPr b="0" sz="1400">
                <a:solidFill>
                  <a:srgbClr val="333333"/>
                </a:solidFill>
              </a:rPr>
              <a:t>export NCCL_SYM_GIN_KERNELS_ENABLE=0   # 缺这个会 crash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29184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2743200"/>
                <a:gridCol w="329184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dispatch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type 2（默认）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type 5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加速比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2N / 16 rank / 8192 tok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1644 µs / 74 GB/s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1503 µs / 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1.09×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2N / 128 tok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365 µs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169 µs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2.16×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4N / 32 rank / 8192 tok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4315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3955 µs / 84% wire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1.09×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4N / 128 tok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1003 µs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184 µs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5.44×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>
                <a:solidFill>
                  <a:srgbClr val="C0504D"/>
                </a:solidFill>
              </a:rPr>
              <a:t>规模越大差距越大</a:t>
            </a:r>
            <a:r>
              <a:rPr b="0" sz="1600">
                <a:solidFill>
                  <a:srgbClr val="202020"/>
                </a:solidFill>
              </a:rPr>
              <a:t> —— 决定要不要设这两个变量的最重要理由。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909090"/>
                </a:solidFill>
              </a:rPr>
              <a:t>DeepEP V2 on AWS EFA · 2026-08 · 5/13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4 · 为什么 GDA 比 CPU proxy 快得多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C0504D"/>
                </a:solidFill>
              </a:rPr>
              <a:t>数据链路差</a:t>
            </a:r>
            <a:r>
              <a:rPr b="0" sz="1400">
                <a:solidFill>
                  <a:srgbClr val="202020"/>
                </a:solidFill>
              </a:rPr>
              <a:t>：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5486400"/>
                <a:gridCol w="2651760"/>
              </a:tblGrid>
              <a:tr h="5486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栈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路径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每 rank CPU 代价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DeepEP V1 + NVSHMEM (EFA)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kernel → NVSHMEM proxy 线程 → libfabric → NIC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CPU 唤醒 + syscall + verbs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UCCL-EP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kernel → 4 个 Rust proxy 线程/rank → ibverbs → NIC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4 线程/rank × 8 = 32 线程/节点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DeepEP V2 + GDAKI (type 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kernel 直接写 </a:t>
                      </a:r>
                      <a:r>
                        <a:rPr b="1" sz="1300">
                          <a:solidFill>
                            <a:srgbClr val="C0504D"/>
                          </a:solidFill>
                        </a:rPr>
                        <a:t>64 B WQE</a:t>
                      </a:r>
                      <a:r>
                        <a:rPr b="1" sz="1300">
                          <a:solidFill>
                            <a:srgbClr val="C0504D"/>
                          </a:solidFill>
                        </a:rPr>
                        <a:t> + ring MMIO doorbell (FI_EFA_GDA_OPS)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0 线程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C0504D"/>
                </a:solidFill>
              </a:rPr>
              <a:t>收益的两个来源</a:t>
            </a:r>
            <a:r>
              <a:rPr b="0" sz="1400">
                <a:solidFill>
                  <a:srgbClr val="202020"/>
                </a:solidFill>
              </a:rPr>
              <a:t>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sz="1400">
                <a:solidFill>
                  <a:srgbClr val="202020"/>
                </a:solidFill>
              </a:rPr>
              <a:t>• </a:t>
            </a:r>
            <a:r>
              <a:rPr b="1" sz="1400">
                <a:solidFill>
                  <a:srgbClr val="C0504D"/>
                </a:solidFill>
              </a:rPr>
              <a:t>延迟</a:t>
            </a:r>
            <a:r>
              <a:rPr b="0" sz="1400">
                <a:solidFill>
                  <a:srgbClr val="202020"/>
                </a:solidFill>
              </a:rPr>
              <a:t>：省掉 CPU 唤醒 + syscall + verbs 三段</a:t>
            </a:r>
          </a:p>
          <a:p>
            <a:pPr>
              <a:spcAft>
                <a:spcPts val="400"/>
              </a:spcAft>
            </a:pPr>
            <a:r>
              <a:rPr b="0" sz="1400">
                <a:solidFill>
                  <a:srgbClr val="202020"/>
                </a:solidFill>
              </a:rPr>
              <a:t>• </a:t>
            </a:r>
            <a:r>
              <a:rPr b="1" sz="1400">
                <a:solidFill>
                  <a:srgbClr val="C0504D"/>
                </a:solidFill>
              </a:rPr>
              <a:t>规模弹性</a:t>
            </a:r>
            <a:r>
              <a:rPr b="0" sz="1400">
                <a:solidFill>
                  <a:srgbClr val="202020"/>
                </a:solidFill>
              </a:rPr>
              <a:t>：CPU proxy 每条链需 handoff 序列化；GPU 把 N 个 flush 分成 N 个 thread 并行发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321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504D"/>
                </a:solidFill>
              </a:rPr>
              <a:t>代价的量化（同一 128-tok decode，type-2 proxy vs type-5 GDA）</a:t>
            </a:r>
            <a:r>
              <a:rPr b="0" sz="1300">
                <a:solidFill>
                  <a:srgbClr val="202020"/>
                </a:solidFill>
              </a:rPr>
              <a:t>：</a:t>
            </a:r>
          </a:p>
          <a:p>
            <a:pPr algn="l"/>
            <a:r>
              <a:rPr b="0" sz="1300">
                <a:solidFill>
                  <a:srgbClr val="202020"/>
                </a:solidFill>
              </a:rPr>
              <a:t>  2N：dispatch 365 → 169 µs（</a:t>
            </a:r>
            <a:r>
              <a:rPr b="1" sz="1300">
                <a:solidFill>
                  <a:srgbClr val="C0504D"/>
                </a:solidFill>
              </a:rPr>
              <a:t>2.16×</a:t>
            </a:r>
            <a:r>
              <a:rPr b="0" sz="1300">
                <a:solidFill>
                  <a:srgbClr val="202020"/>
                </a:solidFill>
              </a:rPr>
              <a:t>）；4N：1003 → 184 µs（</a:t>
            </a:r>
            <a:r>
              <a:rPr b="1" sz="1300">
                <a:solidFill>
                  <a:srgbClr val="C0504D"/>
                </a:solidFill>
              </a:rPr>
              <a:t>5.44×</a:t>
            </a:r>
            <a:r>
              <a:rPr b="0" sz="1300">
                <a:solidFill>
                  <a:srgbClr val="202020"/>
                </a:solidFill>
              </a:rPr>
              <a:t>）</a:t>
            </a:r>
          </a:p>
          <a:p>
            <a:pPr algn="l"/>
            <a:r>
              <a:rPr b="0" sz="1300">
                <a:solidFill>
                  <a:srgbClr val="202020"/>
                </a:solidFill>
              </a:rPr>
              <a:t>  </a:t>
            </a:r>
            <a:r>
              <a:rPr b="1" sz="1300">
                <a:solidFill>
                  <a:srgbClr val="C0504D"/>
                </a:solidFill>
              </a:rPr>
              <a:t>差距随规模放大</a:t>
            </a:r>
            <a:r>
              <a:rPr b="0" sz="1300">
                <a:solidFill>
                  <a:srgbClr val="202020"/>
                </a:solidFill>
              </a:rPr>
              <a:t> —— GPU 侧 fan-out 是常数代价，CPU proxy 侧是线性代价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909090"/>
                </a:solidFill>
              </a:rPr>
              <a:t>DeepEP V2 on AWS EFA · 2026-08 · 6/13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5 · Host 安装（每台机器做一次）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500">
                <a:solidFill>
                  <a:srgbClr val="333333"/>
                </a:solidFill>
              </a:rPr>
              <a:t>curl -O https://efa-installer.amazonaws.com/aws-efa-installer-1.50.0.tar.gz</a:t>
            </a:r>
          </a:p>
          <a:p>
            <a:pPr algn="l"/>
            <a:r>
              <a:rPr b="0" sz="1500">
                <a:solidFill>
                  <a:srgbClr val="333333"/>
                </a:solidFill>
              </a:rPr>
              <a:t>tar xzf aws-efa-installer-1.50.0.tar.gz</a:t>
            </a:r>
          </a:p>
          <a:p>
            <a:pPr algn="l"/>
            <a:r>
              <a:rPr b="0" sz="1500">
                <a:solidFill>
                  <a:srgbClr val="333333"/>
                </a:solidFill>
              </a:rPr>
              <a:t>sudo ./aws-efa-installer/efa_installer.sh -y --no-verify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C0504D"/>
                </a:solidFill>
              </a:rPr>
              <a:t>验证</a:t>
            </a:r>
            <a:r>
              <a:rPr b="0" sz="1400">
                <a:solidFill>
                  <a:srgbClr val="202020"/>
                </a:solidFill>
              </a:rPr>
              <a:t>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sz="1500">
                <a:solidFill>
                  <a:srgbClr val="202020"/>
                </a:solidFill>
              </a:rPr>
              <a:t>• modinfo efa | grep ^version → 3.3.0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202020"/>
                </a:solidFill>
              </a:rPr>
              <a:t>• ibv_devinfo -l → 16 张 EFA 设备（p5en 每 GPU 2 张）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202020"/>
                </a:solidFill>
              </a:rPr>
              <a:t>• 我们提供的 CE 探针 ce_probe.c：ibv_create_comp_cntr 成功 = GDAKI 能起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949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C0504D"/>
                </a:solidFill>
              </a:rPr>
              <a:t>坑</a:t>
            </a:r>
            <a:r>
              <a:rPr b="0" sz="1500">
                <a:solidFill>
                  <a:srgbClr val="202020"/>
                </a:solidFill>
              </a:rPr>
              <a:t>：p6-b300 出厂带 installer 1.47.0（efa.ko 3.0.0，无 GinPlugin 符号），GDAKI 直接起不来，必须先升 1.50.0。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909090"/>
                </a:solidFill>
              </a:rPr>
              <a:t>DeepEP V2 on AWS EFA · 2026-08 · 7/13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6 · 构建镜像（每台机器一条命令）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333333"/>
                </a:solidFill>
              </a:rPr>
              <a:t>git clone https://github.com/whn09/ep-benchmarks-efa.git ~/work/ep-benchmarks-efa</a:t>
            </a:r>
          </a:p>
          <a:p>
            <a:pPr algn="l"/>
            <a:r>
              <a:rPr b="0" sz="1400">
                <a:solidFill>
                  <a:srgbClr val="333333"/>
                </a:solidFill>
              </a:rPr>
              <a:t>cd ~/work/ep-benchmarks-efa/deepep-v2-efa-official</a:t>
            </a:r>
          </a:p>
          <a:p>
            <a:pPr algn="l"/>
            <a:r>
              <a:rPr b="0" sz="1400">
                <a:solidFill>
                  <a:srgbClr val="333333"/>
                </a:solidFill>
              </a:rPr>
              <a:t>./build_image.sh sm90                    # p5en / H200</a:t>
            </a:r>
          </a:p>
          <a:p>
            <a:pPr algn="l"/>
            <a:r>
              <a:rPr b="0" sz="1400">
                <a:solidFill>
                  <a:srgbClr val="333333"/>
                </a:solidFill>
              </a:rPr>
              <a:t>./build_image.sh sm103                   # p6-b300 / B300（需要 CUDA ≥ 13.3）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C0504D"/>
                </a:solidFill>
              </a:rPr>
              <a:t>镜像里干了什么</a:t>
            </a:r>
            <a:r>
              <a:rPr b="0" sz="1500">
                <a:solidFill>
                  <a:srgbClr val="202020"/>
                </a:solidFill>
              </a:rPr>
              <a:t>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9476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sz="1400">
                <a:solidFill>
                  <a:srgbClr val="202020"/>
                </a:solidFill>
              </a:rPr>
              <a:t>• 装 EFA installer 1.50.0 用户态（--skip-kmod；内核态在 host）</a:t>
            </a:r>
          </a:p>
          <a:p>
            <a:pPr>
              <a:spcAft>
                <a:spcPts val="400"/>
              </a:spcAft>
            </a:pPr>
            <a:r>
              <a:rPr b="0" sz="1400">
                <a:solidFill>
                  <a:srgbClr val="202020"/>
                </a:solidFill>
              </a:rPr>
              <a:t>• </a:t>
            </a:r>
            <a:r>
              <a:rPr b="1" sz="1400">
                <a:solidFill>
                  <a:srgbClr val="C0504D"/>
                </a:solidFill>
              </a:rPr>
              <a:t>构建期 gate</a:t>
            </a:r>
            <a:r>
              <a:rPr b="0" sz="1400">
                <a:solidFill>
                  <a:srgbClr val="202020"/>
                </a:solidFill>
              </a:rPr>
              <a:t>：nm libnccl-net-ofi.so | grep ncclGinPlugin_v14（一份 pre-GA tarball 里 aws-ofi-nccl 是 1.20.0，没有 v14；ChangeLog 判不出来）</a:t>
            </a:r>
          </a:p>
          <a:p>
            <a:pPr>
              <a:spcAft>
                <a:spcPts val="400"/>
              </a:spcAft>
            </a:pPr>
            <a:r>
              <a:rPr b="0" sz="1400">
                <a:solidFill>
                  <a:srgbClr val="202020"/>
                </a:solidFill>
              </a:rPr>
              <a:t>• 删 apt 的 libnccl 2.28.3，装 pip 的 2.31.2 + nvshmem 3.7.2</a:t>
            </a:r>
          </a:p>
          <a:p>
            <a:pPr>
              <a:spcAft>
                <a:spcPts val="400"/>
              </a:spcAft>
            </a:pPr>
            <a:r>
              <a:rPr b="0" sz="1400">
                <a:solidFill>
                  <a:srgbClr val="202020"/>
                </a:solidFill>
              </a:rPr>
              <a:t>• build DeepEP，pin 到 9c1f2511；sm90-bfbdd15 是 PR #1 + #2 那条臂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909090"/>
                </a:solidFill>
              </a:rPr>
              <a:t>DeepEP V2 on AWS EFA · 2026-08 · 8/13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7 · 跑第一个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333333"/>
                </a:solidFill>
              </a:rPr>
              <a:t># leader（在 P5EN-1 上）</a:t>
            </a:r>
          </a:p>
          <a:p>
            <a:pPr algn="l"/>
            <a:r>
              <a:rPr b="0" sz="1400">
                <a:solidFill>
                  <a:srgbClr val="333333"/>
                </a:solidFill>
              </a:rPr>
              <a:t>MASTER_IP=$(hostname -I | awk '{print $1}')   # ← 用私网 v4，别用 hostname</a:t>
            </a:r>
          </a:p>
          <a:p>
            <a:pPr algn="l"/>
            <a:r>
              <a:rPr b="0" sz="1400">
                <a:solidFill>
                  <a:srgbClr val="333333"/>
                </a:solidFill>
              </a:rPr>
              <a:t>./run_test_ep.sh 0 "$MASTER_IP"</a:t>
            </a:r>
          </a:p>
          <a:p>
            <a:pPr algn="l"/>
          </a:p>
          <a:p>
            <a:pPr algn="l"/>
            <a:r>
              <a:rPr b="0" sz="1400">
                <a:solidFill>
                  <a:srgbClr val="333333"/>
                </a:solidFill>
              </a:rPr>
              <a:t># worker（在 P5EN-2 上，几秒内启动）</a:t>
            </a:r>
          </a:p>
          <a:p>
            <a:pPr algn="l"/>
            <a:r>
              <a:rPr b="0" sz="1400">
                <a:solidFill>
                  <a:srgbClr val="333333"/>
                </a:solidFill>
              </a:rPr>
              <a:t>./run_test_ep.sh 1 172.31.14.20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49039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C0504D"/>
                </a:solidFill>
              </a:rPr>
              <a:t>坑</a:t>
            </a:r>
            <a:r>
              <a:rPr b="0" sz="1400">
                <a:solidFill>
                  <a:srgbClr val="202020"/>
                </a:solidFill>
              </a:rPr>
              <a:t>：ip-172-31-14-20 这种 hostname 在 EC2 上会同时解析出 IPv4 和 </a:t>
            </a:r>
            <a:r>
              <a:rPr b="1" sz="1400">
                <a:solidFill>
                  <a:srgbClr val="C0504D"/>
                </a:solidFill>
              </a:rPr>
              <a:t>link-local IPv6 fe80::…</a:t>
            </a:r>
            <a:r>
              <a:rPr b="0" sz="1400">
                <a:solidFill>
                  <a:srgbClr val="202020"/>
                </a:solidFill>
              </a:rPr>
              <a:t>；libuv 尝试 v6 时 errno 22 (EINVAL)。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202020"/>
                </a:solidFill>
              </a:rPr>
              <a:t>日志里应该看到：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949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333333"/>
                </a:solidFill>
              </a:rPr>
              <a:t>NCCL INFO GIN/Plugin: Loaded gin plugin Libfabric_GDAKI (v14)   # 决定性一行</a:t>
            </a:r>
          </a:p>
          <a:p>
            <a:pPr algn="l"/>
            <a:r>
              <a:rPr b="0" sz="1300">
                <a:solidFill>
                  <a:srgbClr val="333333"/>
                </a:solidFill>
              </a:rPr>
              <a:t>&gt; #SM: 24, #QPs: 11/11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909090"/>
                </a:solidFill>
              </a:rPr>
              <a:t>DeepEP V2 on AWS EFA · 2026-08 · 9/13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8 · Campaign 出正式表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500">
                <a:solidFill>
                  <a:srgbClr val="333333"/>
                </a:solidFill>
              </a:rPr>
              <a:t>NODES="P5EN-1 P5EN-2" ./run_campaign.sh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sz="1500">
                <a:solidFill>
                  <a:srgbClr val="202020"/>
                </a:solidFill>
              </a:rPr>
              <a:t>• 5 cell × 3 rep × 2 node = </a:t>
            </a:r>
            <a:r>
              <a:rPr b="1" sz="1500">
                <a:solidFill>
                  <a:srgbClr val="C0504D"/>
                </a:solidFill>
              </a:rPr>
              <a:t>30 份日志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202020"/>
                </a:solidFill>
              </a:rPr>
              <a:t>• Reps 是</a:t>
            </a:r>
            <a:r>
              <a:rPr b="1" sz="1500">
                <a:solidFill>
                  <a:srgbClr val="C0504D"/>
                </a:solidFill>
              </a:rPr>
              <a:t>轮转</a:t>
            </a:r>
            <a:r>
              <a:rPr b="0" sz="1500">
                <a:solidFill>
                  <a:srgbClr val="202020"/>
                </a:solidFill>
              </a:rPr>
              <a:t>跑（一 rep 跑完所有 cell 再进下一 rep）—— 慢漂移不会误认成 arm 效应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202020"/>
                </a:solidFill>
              </a:rPr>
              <a:t>• 每个 cell 独立 MASTER_PORT（防上一次残留 socket 占端口）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202020"/>
                </a:solidFill>
              </a:rPr>
              <a:t>• 每个 log 名字自带所有变量：arm_nodes_sms_tokens_knob_dbg_gin_rep_node.log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202020"/>
                </a:solidFill>
              </a:rPr>
              <a:t>• </a:t>
            </a:r>
            <a:r>
              <a:rPr b="1" sz="1500">
                <a:solidFill>
                  <a:srgbClr val="C0504D"/>
                </a:solidFill>
              </a:rPr>
              <a:t>验收</a:t>
            </a:r>
            <a:r>
              <a:rPr b="0" sz="1500">
                <a:solidFill>
                  <a:srgbClr val="202020"/>
                </a:solidFill>
              </a:rPr>
              <a:t>：./verify_run.sh logs/*.log → === no FAILs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120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C0504D"/>
                </a:solidFill>
              </a:rPr>
              <a:t>规矩</a:t>
            </a:r>
            <a:r>
              <a:rPr b="0" sz="1500">
                <a:solidFill>
                  <a:srgbClr val="202020"/>
                </a:solidFill>
              </a:rPr>
              <a:t>：单节点均值</a:t>
            </a:r>
            <a:r>
              <a:rPr b="1" sz="1500">
                <a:solidFill>
                  <a:srgbClr val="C0504D"/>
                </a:solidFill>
              </a:rPr>
              <a:t>不能</a:t>
            </a:r>
            <a:r>
              <a:rPr b="0" sz="1500">
                <a:solidFill>
                  <a:srgbClr val="202020"/>
                </a:solidFill>
              </a:rPr>
              <a:t>代替全 rank 均值 —— combine 按机器分层，偏差可 12–18%。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909090"/>
                </a:solidFill>
              </a:rPr>
              <a:t>DeepEP V2 on AWS EFA · 2026-08 · 10/13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9 · 性能：Prefill (24 SM, 8192 tok, GIN type 5)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194560"/>
                <a:gridCol w="1737360"/>
                <a:gridCol w="2377440"/>
                <a:gridCol w="2194560"/>
              </a:tblGrid>
              <a:tr h="50292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op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2N 时间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SO GB/s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4N 时间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SO GB/s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dispatch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1535.7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79–80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3972.7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55–56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combine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3534 µs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62–73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7711 µs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51–57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reduced combine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3363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64–79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7728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51–57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56616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sz="1400">
                <a:solidFill>
                  <a:srgbClr val="202020"/>
                </a:solidFill>
              </a:rPr>
              <a:t>• </a:t>
            </a:r>
            <a:r>
              <a:rPr b="1" sz="1400">
                <a:solidFill>
                  <a:srgbClr val="C0504D"/>
                </a:solidFill>
              </a:rPr>
              <a:t>dispatch 在两个规模都跑到线速的 80–84%</a:t>
            </a:r>
            <a:r>
              <a:rPr b="0" sz="1400">
                <a:solidFill>
                  <a:srgbClr val="202020"/>
                </a:solidFill>
              </a:rPr>
              <a:t>（2N 79.6%，4N 83.7%）</a:t>
            </a:r>
          </a:p>
          <a:p>
            <a:pPr>
              <a:spcAft>
                <a:spcPts val="400"/>
              </a:spcAft>
            </a:pPr>
            <a:r>
              <a:rPr b="0" sz="1400">
                <a:solidFill>
                  <a:srgbClr val="202020"/>
                </a:solidFill>
              </a:rPr>
              <a:t>• </a:t>
            </a:r>
            <a:r>
              <a:rPr b="1" sz="1400">
                <a:solidFill>
                  <a:srgbClr val="C0504D"/>
                </a:solidFill>
              </a:rPr>
              <a:t>4N 利用率反而更高</a:t>
            </a:r>
            <a:r>
              <a:rPr b="0" sz="1400">
                <a:solidFill>
                  <a:srgbClr val="202020"/>
                </a:solidFill>
              </a:rPr>
              <a:t>：每 rank 真跨机字节 61 → 166 MB（×2.72），时间只涨到 2.59×</a:t>
            </a:r>
          </a:p>
          <a:p>
            <a:pPr>
              <a:spcAft>
                <a:spcPts val="400"/>
              </a:spcAft>
            </a:pPr>
            <a:r>
              <a:rPr b="0" sz="1400">
                <a:solidFill>
                  <a:srgbClr val="202020"/>
                </a:solidFill>
              </a:rPr>
              <a:t>• combine 时间跨 rank 分布 16–21% —— 那是</a:t>
            </a:r>
            <a:r>
              <a:rPr b="1" sz="1400">
                <a:solidFill>
                  <a:srgbClr val="C0504D"/>
                </a:solidFill>
              </a:rPr>
              <a:t>机器分层</a:t>
            </a:r>
            <a:r>
              <a:rPr b="0" sz="1400">
                <a:solidFill>
                  <a:srgbClr val="202020"/>
                </a:solidFill>
              </a:rPr>
              <a:t>（node-layered），不是网络抖动；全 rank 均值 rep 间只差 0.05–0.30%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909090"/>
                </a:solidFill>
              </a:rPr>
              <a:t>DeepEP V2 on AWS EFA · 2026-08 · 11/13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10 · 性能：Decode + PR #1 + #2（12 SM, 128 tok, type 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C0504D"/>
                </a:solidFill>
              </a:rPr>
              <a:t>decode 的两个杠杆可以叠加：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sz="1400">
                <a:solidFill>
                  <a:srgbClr val="202020"/>
                </a:solidFill>
              </a:rPr>
              <a:t>• NCCL_GIN_TYPE=5（后端）</a:t>
            </a:r>
          </a:p>
          <a:p>
            <a:pPr>
              <a:spcAft>
                <a:spcPts val="400"/>
              </a:spcAft>
            </a:pPr>
            <a:r>
              <a:rPr b="0" sz="1400">
                <a:solidFill>
                  <a:srgbClr val="202020"/>
                </a:solidFill>
              </a:rPr>
              <a:t>• Part 几何（DeepEP amazon-contributing PR </a:t>
            </a:r>
            <a:r>
              <a:rPr b="1" sz="1400">
                <a:solidFill>
                  <a:srgbClr val="C0504D"/>
                </a:solidFill>
              </a:rPr>
              <a:t>#1</a:t>
            </a:r>
            <a:r>
              <a:rPr b="0" sz="1400">
                <a:solidFill>
                  <a:srgbClr val="202020"/>
                </a:solidFill>
              </a:rPr>
              <a:t> + </a:t>
            </a:r>
            <a:r>
              <a:rPr b="1" sz="1400">
                <a:solidFill>
                  <a:srgbClr val="C0504D"/>
                </a:solidFill>
              </a:rPr>
              <a:t>#2</a:t>
            </a:r>
            <a:r>
              <a:rPr b="0" sz="1400">
                <a:solidFill>
                  <a:srgbClr val="202020"/>
                </a:solidFill>
              </a:rPr>
              <a:t>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01752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011680"/>
                <a:gridCol w="1463040"/>
                <a:gridCol w="2011680"/>
                <a:gridCol w="2286000"/>
              </a:tblGrid>
              <a:tr h="4572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arm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2N dispatch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Δ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4N dispatch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Δ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未打补丁 type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365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1.00×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1003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1.00×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未打补丁 type 5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169 µs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−54%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184 µs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−82%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+PR #1 #2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113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−69%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170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−83%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+ EP_NUM_SUB_PARTS=1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106 µs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−71%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156 µs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−84%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4864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sz="1300">
                <a:solidFill>
                  <a:srgbClr val="202020"/>
                </a:solidFill>
              </a:rPr>
              <a:t>• 2N：一对 env var + 两个 commit 把 decode dispatch 365 → </a:t>
            </a:r>
            <a:r>
              <a:rPr b="1" sz="1300">
                <a:solidFill>
                  <a:srgbClr val="C0504D"/>
                </a:solidFill>
              </a:rPr>
              <a:t>106 µs（3.43×）</a:t>
            </a:r>
          </a:p>
          <a:p>
            <a:pPr>
              <a:spcAft>
                <a:spcPts val="400"/>
              </a:spcAft>
            </a:pPr>
            <a:r>
              <a:rPr b="0" sz="1300">
                <a:solidFill>
                  <a:srgbClr val="202020"/>
                </a:solidFill>
              </a:rPr>
              <a:t>• 4N：clamp 单独 −8%，绝对时间几乎与 2N 持平（</a:t>
            </a:r>
            <a:r>
              <a:rPr b="1" sz="1300">
                <a:solidFill>
                  <a:srgbClr val="C0504D"/>
                </a:solidFill>
              </a:rPr>
              <a:t>GDAKI 规模弹性极好</a:t>
            </a:r>
            <a:r>
              <a:rPr b="0" sz="1300">
                <a:solidFill>
                  <a:srgbClr val="202020"/>
                </a:solidFill>
              </a:rPr>
              <a:t>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909090"/>
                </a:solidFill>
              </a:rPr>
              <a:t>DeepEP V2 on AWS EFA · 2026-08 · 12/13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11 · 跨栈对比：V1 / UCCL-EP / V2 —— 同 EFA 硬件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504D"/>
                </a:solidFill>
              </a:rPr>
              <a:t>Prefill 吞吐（每 rank 有效带宽，GB/s，大=好）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471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286000"/>
                <a:gridCol w="1554480"/>
                <a:gridCol w="1554480"/>
                <a:gridCol w="1554480"/>
                <a:gridCol w="1463040"/>
              </a:tblGrid>
              <a:tr h="4343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栈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后端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p5en dispatch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p5en combine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b300 dispatch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b300 combine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DeepEP V1 + Amazon NVSHMEM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CPU proxy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62.54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58.48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109.84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101.72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UCCL-EP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CPU proxy（32 线程/节点）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60.64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17.11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90.03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58.99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C0504D"/>
                          </a:solidFill>
                        </a:rPr>
                        <a:t>DeepEP V2 + EFA GDAKI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C0504D"/>
                          </a:solidFill>
                        </a:rPr>
                        <a:t>GPU-initiated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C0504D"/>
                          </a:solidFill>
                        </a:rPr>
                        <a:t>81.25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C0504D"/>
                          </a:solidFill>
                        </a:rPr>
                        <a:t>65.75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C0504D"/>
                          </a:solidFill>
                        </a:rPr>
                        <a:t>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C0504D"/>
                          </a:solidFill>
                        </a:rPr>
                        <a:t>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520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504D"/>
                </a:solidFill>
              </a:rPr>
              <a:t>Decode 延迟（128 tok, µs, 小=好）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931920"/>
          <a:ext cx="112471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011680"/>
                <a:gridCol w="1920240"/>
                <a:gridCol w="1920240"/>
                <a:gridCol w="1920240"/>
              </a:tblGrid>
              <a:tr h="4343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栈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p5en dispatch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p5en combine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b300 dispatch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b300 combine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DeepEP V1 + NVSHMEM (EFA)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602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561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691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UCCL-EP（pplx-style p50）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212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324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103–136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229–367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C0504D"/>
                          </a:solidFill>
                        </a:rPr>
                        <a:t>DeepEP V2 + GDAKI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C0504D"/>
                          </a:solidFill>
                        </a:rPr>
                        <a:t>151.6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C0504D"/>
                          </a:solidFill>
                        </a:rPr>
                        <a:t>189.6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C0504D"/>
                          </a:solidFill>
                        </a:rPr>
                        <a:t>200.4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C0504D"/>
                          </a:solidFill>
                        </a:rPr>
                        <a:t>160.1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504D"/>
                </a:solidFill>
              </a:rPr>
              <a:t>一句话</a:t>
            </a:r>
            <a:r>
              <a:rPr b="0" sz="1300">
                <a:solidFill>
                  <a:srgbClr val="202020"/>
                </a:solidFill>
              </a:rPr>
              <a:t>：V2 + GDAKI 是</a:t>
            </a:r>
            <a:r>
              <a:rPr b="1" sz="1300">
                <a:solidFill>
                  <a:srgbClr val="C0504D"/>
                </a:solidFill>
              </a:rPr>
              <a:t>唯一同时打赢 V1（+30% 吞吐）和 UCCL-EP（−28% 延迟）</a:t>
            </a:r>
            <a:r>
              <a:rPr b="0" sz="1300">
                <a:solidFill>
                  <a:srgbClr val="202020"/>
                </a:solidFill>
              </a:rPr>
              <a:t>的栈，而且 CPU 占用是 </a:t>
            </a:r>
            <a:r>
              <a:rPr b="1" sz="1300">
                <a:solidFill>
                  <a:srgbClr val="C0504D"/>
                </a:solidFill>
              </a:rPr>
              <a:t>0 vs 32 线程/节点</a:t>
            </a:r>
            <a:r>
              <a:rPr b="0" sz="1300">
                <a:solidFill>
                  <a:srgbClr val="202020"/>
                </a:solidFill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909090"/>
                </a:solidFill>
              </a:rPr>
              <a:t>DeepEP V2 on AWS EFA · 2026-08 · 13/13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12 · 三个坑 + 参考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C0504D"/>
                </a:solidFill>
              </a:rPr>
              <a:t>1. 版本号判据不够</a:t>
            </a:r>
            <a:r>
              <a:rPr b="0" sz="1400">
                <a:solidFill>
                  <a:srgbClr val="202020"/>
                </a:solidFill>
              </a:rPr>
              <a:t> —— 两份都叫 aws-efa-installer-1.50.0.tar.gz 的 tarball 里，aws-ofi-nccl 一份是 1.21.1（有 v14），一份是 1.20.0（没有）。判据用 </a:t>
            </a:r>
            <a:r>
              <a:rPr b="1" sz="1400">
                <a:solidFill>
                  <a:srgbClr val="C0504D"/>
                </a:solidFill>
              </a:rPr>
              <a:t>nm 上的 ncclGinPlugin_v14 符号</a:t>
            </a:r>
            <a:r>
              <a:rPr b="0" sz="1400">
                <a:solidFill>
                  <a:srgbClr val="202020"/>
                </a:solidFill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C0504D"/>
                </a:solidFill>
              </a:rPr>
              <a:t>2. hostname 会解析出 link-local v6</a:t>
            </a:r>
            <a:r>
              <a:rPr b="0" sz="1400">
                <a:solidFill>
                  <a:srgbClr val="202020"/>
                </a:solidFill>
              </a:rPr>
              <a:t> —— rendezvous 用 hostname 会 errno 22。用</a:t>
            </a:r>
            <a:r>
              <a:rPr b="1" sz="1400">
                <a:solidFill>
                  <a:srgbClr val="C0504D"/>
                </a:solidFill>
              </a:rPr>
              <a:t>私网 IPv4</a:t>
            </a:r>
            <a:r>
              <a:rPr b="0" sz="1400">
                <a:solidFill>
                  <a:srgbClr val="202020"/>
                </a:solidFill>
              </a:rPr>
              <a:t> 直连。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C0504D"/>
                </a:solidFill>
              </a:rPr>
              <a:t>3. torch.multiprocessing.spawn 的 signal handling 差</a:t>
            </a:r>
            <a:r>
              <a:rPr b="0" sz="1400">
                <a:solidFill>
                  <a:srgbClr val="202020"/>
                </a:solidFill>
              </a:rPr>
              <a:t> —— 容器 PID 1 是 python 时，SIGTERM 到达前 worker 可能已经在 rendezvous 上把 MASTER_PORT 挂住。给 docker run 加 </a:t>
            </a:r>
            <a:r>
              <a:rPr b="1" sz="1400">
                <a:solidFill>
                  <a:srgbClr val="C0504D"/>
                </a:solidFill>
              </a:rPr>
              <a:t>--init</a:t>
            </a:r>
            <a:r>
              <a:rPr b="0" sz="1400">
                <a:solidFill>
                  <a:srgbClr val="202020"/>
                </a:solidFill>
              </a:rPr>
              <a:t>（tini 当 PID 1 正确 reap + 转发 signal）。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C0504D"/>
                </a:solidFill>
              </a:rPr>
              <a:t>参考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235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sz="1300">
                <a:solidFill>
                  <a:srgbClr val="202020"/>
                </a:solidFill>
              </a:rPr>
              <a:t>• 完整方法 + 数字：docs/runbook_zh.md（本目录）</a:t>
            </a:r>
          </a:p>
          <a:p>
            <a:pPr>
              <a:spcAft>
                <a:spcPts val="400"/>
              </a:spcAft>
            </a:pPr>
            <a:r>
              <a:rPr b="0" sz="1300">
                <a:solidFill>
                  <a:srgbClr val="202020"/>
                </a:solidFill>
              </a:rPr>
              <a:t>• 复现脚本：run_test_ep.sh / run_campaign.sh</a:t>
            </a:r>
          </a:p>
          <a:p>
            <a:pPr>
              <a:spcAft>
                <a:spcPts val="400"/>
              </a:spcAft>
            </a:pPr>
            <a:r>
              <a:rPr b="0" sz="1300">
                <a:solidFill>
                  <a:srgbClr val="202020"/>
                </a:solidFill>
              </a:rPr>
              <a:t>• 待合 PR：amazon-contributing/DeepEP#1 / #2</a:t>
            </a:r>
          </a:p>
          <a:p>
            <a:pPr>
              <a:spcAft>
                <a:spcPts val="400"/>
              </a:spcAft>
            </a:pPr>
            <a:r>
              <a:rPr b="0" sz="1300">
                <a:solidFill>
                  <a:srgbClr val="202020"/>
                </a:solidFill>
              </a:rPr>
              <a:t>• 上游 install 参考：awslabs/awsome-distributed-ai deepep-v2-benchmark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